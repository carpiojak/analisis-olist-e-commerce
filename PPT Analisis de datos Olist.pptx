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DM Sans Bold" charset="0"/>
      <p:regular r:id="rId17"/>
    </p:embeddedFont>
    <p:embeddedFont>
      <p:font typeface="Libre Baskerville" panose="02000000000000000000" pitchFamily="2" charset="0"/>
      <p:regular r:id="rId18"/>
      <p:bold r:id="rId19"/>
      <p:italic r:id="rId20"/>
    </p:embeddedFont>
    <p:embeddedFont>
      <p:font typeface="Source Sans 3" panose="020B0604020202020204" charset="0"/>
      <p:regular r:id="rId21"/>
    </p:embeddedFont>
    <p:embeddedFont>
      <p:font typeface="Source Serif 4 SemiBold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42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6427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olistbr/brazilian-ecommerc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1.jpeg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60823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Análisis de Datos: Olist Ecommerce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068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Transformando datos en decisiones accionables para el comercio electrónico brasileño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4711959"/>
            <a:ext cx="1845865" cy="250888"/>
          </a:xfrm>
          <a:prstGeom prst="roundRect">
            <a:avLst>
              <a:gd name="adj" fmla="val 22119"/>
            </a:avLst>
          </a:prstGeom>
          <a:solidFill>
            <a:srgbClr val="F7EDD4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4789983"/>
            <a:ext cx="167610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AUTOR: JACK CARPIO PANTOJA</a:t>
            </a:r>
            <a:endParaRPr lang="en-US" sz="850" dirty="0"/>
          </a:p>
        </p:txBody>
      </p:sp>
      <p:pic>
        <p:nvPicPr>
          <p:cNvPr id="1026" name="Picture 2" descr="Olist Ecommerce Operations Analysis | by Michael Angelo David | Medium">
            <a:extLst>
              <a:ext uri="{FF2B5EF4-FFF2-40B4-BE49-F238E27FC236}">
                <a16:creationId xmlns:a16="http://schemas.microsoft.com/office/drawing/2014/main" id="{1670D8E8-2312-F804-8984-9BA269298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039" y="0"/>
            <a:ext cx="3942961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11985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¿Qué es Olist?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775445"/>
            <a:ext cx="2290465" cy="1279996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1921966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Plataforma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225859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Conecta comerciantes con marketplaces de ecommerce en Brasil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775445"/>
            <a:ext cx="2290539" cy="1279996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1921966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Operación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2" y="2225859"/>
            <a:ext cx="1997497" cy="797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vendedor recibe el pedido y envía mediante socios logísticos de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Olist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</a:p>
        </p:txBody>
      </p:sp>
      <p:sp>
        <p:nvSpPr>
          <p:cNvPr id="10" name="Shape 7"/>
          <p:cNvSpPr/>
          <p:nvPr/>
        </p:nvSpPr>
        <p:spPr>
          <a:xfrm>
            <a:off x="3925119" y="3197200"/>
            <a:ext cx="4722763" cy="93569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1640" y="3343721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Valoración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39" y="3565176"/>
            <a:ext cx="4429720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Tras la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entrega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vencimiento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del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plazo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entrega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</a:t>
            </a:r>
            <a:endParaRPr lang="en-US" sz="1100" dirty="0">
              <a:solidFill>
                <a:srgbClr val="45424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recibe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encuesta de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satisfacción</a:t>
            </a:r>
            <a:endParaRPr lang="en-US" sz="11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47FE292-AAB5-1DCF-D5CF-207E587D5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103" y="4674874"/>
            <a:ext cx="1409897" cy="45726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925A048D-0152-1519-D8CD-EF4298847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1362"/>
            <a:ext cx="343035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El Problema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4988" y="1768599"/>
            <a:ext cx="1631305" cy="22618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11997" y="1929408"/>
            <a:ext cx="1233488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Datos fragmentados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711997" y="2735535"/>
            <a:ext cx="123348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Información distribuida en múltiples tablas sin visión integral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8052" y="1768599"/>
            <a:ext cx="1631379" cy="22618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5061" y="1929408"/>
            <a:ext cx="1233562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Sin indicadores consolidados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485061" y="2735535"/>
            <a:ext cx="123356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Limita la priorización de acciones comerciales y operativas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1190" y="1768599"/>
            <a:ext cx="1631379" cy="22618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58199" y="1929408"/>
            <a:ext cx="123356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Oportunidades ocultas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258199" y="2514079"/>
            <a:ext cx="123356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Categorías, regiones y problemas logísticos sin identificar</a:t>
            </a:r>
            <a:endParaRPr lang="en-US" sz="11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37E82B6-B591-F7EA-B0F8-B8113010A5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5280" y="4686236"/>
            <a:ext cx="1409897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40715" y="608967"/>
            <a:ext cx="426249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Objetivo y Metodología</a:t>
            </a:r>
            <a:endParaRPr lang="en-US" sz="275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B883661D-D2EB-9D83-F0EE-3C94E3DF89B6}"/>
              </a:ext>
            </a:extLst>
          </p:cNvPr>
          <p:cNvSpPr/>
          <p:nvPr/>
        </p:nvSpPr>
        <p:spPr>
          <a:xfrm>
            <a:off x="523577" y="1141697"/>
            <a:ext cx="8554045" cy="992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objetivo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este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proyecto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es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realizar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análisis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integral del ecommerce de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Olist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 lo largo del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proyecto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buscará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depurar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</a:t>
            </a:r>
            <a:endParaRPr lang="en-US" sz="1150" dirty="0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datos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construir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modelo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analítico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consistente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analizar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patrones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extraer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conclusiones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accionables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la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toma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decisiones</a:t>
            </a:r>
            <a:endParaRPr lang="en-US" sz="1150" dirty="0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150" dirty="0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Tres etapas complementarias para transformar datos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5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decisiones</a:t>
            </a:r>
            <a:endParaRPr lang="en-US" sz="115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D1C61DFC-A3DA-F0B7-DBC9-EC275C7A1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2302148"/>
            <a:ext cx="2698924" cy="598438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E335550C-11D2-D8F4-2F2D-393BCBC808F4}"/>
              </a:ext>
            </a:extLst>
          </p:cNvPr>
          <p:cNvSpPr/>
          <p:nvPr/>
        </p:nvSpPr>
        <p:spPr>
          <a:xfrm>
            <a:off x="673150" y="3050158"/>
            <a:ext cx="23997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Python</a:t>
            </a:r>
            <a:endParaRPr lang="en-US" sz="135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D329ABB4-0CC2-839A-C8C2-C360C55048AA}"/>
              </a:ext>
            </a:extLst>
          </p:cNvPr>
          <p:cNvSpPr/>
          <p:nvPr/>
        </p:nvSpPr>
        <p:spPr>
          <a:xfrm>
            <a:off x="673150" y="3359869"/>
            <a:ext cx="239977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Exploración, limpieza y análisis exploratorio</a:t>
            </a:r>
            <a:endParaRPr lang="en-US" sz="1150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AD2BF2E0-8D4B-A380-59CF-BE19C8DBA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2501" y="2302148"/>
            <a:ext cx="2698924" cy="598438"/>
          </a:xfrm>
          <a:prstGeom prst="rect">
            <a:avLst/>
          </a:prstGeom>
        </p:spPr>
      </p:pic>
      <p:sp>
        <p:nvSpPr>
          <p:cNvPr id="18" name="Text 4">
            <a:extLst>
              <a:ext uri="{FF2B5EF4-FFF2-40B4-BE49-F238E27FC236}">
                <a16:creationId xmlns:a16="http://schemas.microsoft.com/office/drawing/2014/main" id="{7D89D6B4-96A2-1A1C-6BA7-B7E1884148F3}"/>
              </a:ext>
            </a:extLst>
          </p:cNvPr>
          <p:cNvSpPr/>
          <p:nvPr/>
        </p:nvSpPr>
        <p:spPr>
          <a:xfrm>
            <a:off x="3372073" y="3050158"/>
            <a:ext cx="23997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SQL</a:t>
            </a:r>
            <a:endParaRPr lang="en-US" sz="135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F5944A07-4700-9F73-F6FC-3071814C62A9}"/>
              </a:ext>
            </a:extLst>
          </p:cNvPr>
          <p:cNvSpPr/>
          <p:nvPr/>
        </p:nvSpPr>
        <p:spPr>
          <a:xfrm>
            <a:off x="3372073" y="3359869"/>
            <a:ext cx="239977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Modelado relacional y métricas analíticas</a:t>
            </a:r>
            <a:endParaRPr lang="en-US" sz="1150" dirty="0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AF7CF94E-F0F9-D7E2-892E-83E00ECD5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1425" y="2302148"/>
            <a:ext cx="2698924" cy="598438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3F260E9B-6FE4-3640-35B6-54F7BA285A8A}"/>
              </a:ext>
            </a:extLst>
          </p:cNvPr>
          <p:cNvSpPr/>
          <p:nvPr/>
        </p:nvSpPr>
        <p:spPr>
          <a:xfrm>
            <a:off x="6070997" y="3050158"/>
            <a:ext cx="23997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Power BI</a:t>
            </a:r>
            <a:endParaRPr lang="en-US" sz="13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62C33071-8270-06CB-BBFD-8330B83EBD74}"/>
              </a:ext>
            </a:extLst>
          </p:cNvPr>
          <p:cNvSpPr/>
          <p:nvPr/>
        </p:nvSpPr>
        <p:spPr>
          <a:xfrm>
            <a:off x="6070997" y="3359869"/>
            <a:ext cx="239977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 interactivo orientado a negocio</a:t>
            </a:r>
            <a:endParaRPr lang="en-US" sz="115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ABB271A-FC0D-C3FF-444D-0169705BD4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103" y="4686236"/>
            <a:ext cx="1409897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448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Dataset: ~100.000 Pedidos (2017–2018)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21829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98K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066776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Pedidos analizados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37328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desde 2017 (datos de 2016 incompletos)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421829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95K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4660553" y="2066776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Clientes únicos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373288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Distribuidos en 27 estados de Brasil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954462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3K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496119" y="3599408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Vendedores activos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905920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22 estados brasileños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2954462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</a:rPr>
              <a:t>8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4660553" y="3599408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Tablas relacionadas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3905919"/>
            <a:ext cx="3987329" cy="49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.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Vendedores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.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.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Reseñas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.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Traducciones</a:t>
            </a:r>
            <a:endParaRPr lang="en-US" sz="1100" dirty="0">
              <a:solidFill>
                <a:srgbClr val="45424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Productos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.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Artículos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. Pagos de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pedidos</a:t>
            </a:r>
            <a:endParaRPr lang="en-US" sz="1100" dirty="0">
              <a:solidFill>
                <a:srgbClr val="45424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4508376"/>
            <a:ext cx="3012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Fuente: </a:t>
            </a:r>
            <a:r>
              <a:rPr lang="en-US" sz="1100" b="1" u="sng" dirty="0">
                <a:solidFill>
                  <a:srgbClr val="AB842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– Olist Brazilian Ecommerce</a:t>
            </a:r>
            <a:endParaRPr lang="en-US" sz="11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22206F7-DD1F-0FB1-C617-11D19DBE2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103" y="4659400"/>
            <a:ext cx="1409897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90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Estructura del Dataset</a:t>
            </a:r>
            <a:endParaRPr lang="en-US" sz="2750" dirty="0"/>
          </a:p>
        </p:txBody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C00B0D0A-8AFE-C371-AE1C-7BC9E51C5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404" y="880021"/>
            <a:ext cx="3957191" cy="3957191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A2D611AC-6455-D287-487C-052D37AA2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103" y="4686236"/>
            <a:ext cx="1409897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7127" y="309452"/>
            <a:ext cx="4990281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Limpieza y Transformación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887127" y="1231106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939402" y="1257226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38448" y="1279029"/>
            <a:ext cx="472819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IDs normalizados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38448" y="1634430"/>
            <a:ext cx="47281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Alfanuméricos → enteros con diccionarios de respaldo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887127" y="2130623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9402" y="2156743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38448" y="2178546"/>
            <a:ext cx="472819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Registros</a:t>
            </a: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inconsistentes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338448" y="2533948"/>
            <a:ext cx="47281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451 pedidos eliminados (&lt;1% del total,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respecto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puntaje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87127" y="3030141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9402" y="3056260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38448" y="3078063"/>
            <a:ext cx="472819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Relaciones</a:t>
            </a: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135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optimizadas</a:t>
            </a: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entre </a:t>
            </a:r>
            <a:r>
              <a:rPr lang="en-US" sz="135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tablas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338447" y="3344094"/>
            <a:ext cx="4728195" cy="40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Traducción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 de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cadenas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 de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texto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,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eliminación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 y/o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transformación</a:t>
            </a:r>
            <a:endParaRPr lang="en-US" sz="1050" dirty="0">
              <a:solidFill>
                <a:srgbClr val="454240"/>
              </a:solidFill>
              <a:latin typeface="DM Sans" pitchFamily="34" charset="0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de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columnas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,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aseguramiento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 de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integridad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referencial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 entre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datos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,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etc</a:t>
            </a:r>
            <a:endParaRPr lang="en-US" sz="1050" dirty="0">
              <a:solidFill>
                <a:srgbClr val="454240"/>
              </a:solidFill>
              <a:latin typeface="DM Sans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887127" y="3929658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39402" y="3955777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338448" y="3977580"/>
            <a:ext cx="472819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Categorías "unknown"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338448" y="4332982"/>
            <a:ext cx="47281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Productos sin categoría asignada</a:t>
            </a:r>
            <a:endParaRPr lang="en-US" sz="1050" dirty="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D60A32A5-1238-0819-62D9-5F29ACA41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D44A7738-3EAC-6339-0C21-220ACCB69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103" y="4685864"/>
            <a:ext cx="1409897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881" y="14792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Análisis Financiero y Comercial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749701" y="189475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Hallazgos clave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257972"/>
            <a:ext cx="390294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Crecimiento sostenido hasta ~1M BRL/mes (nov 2017)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Pico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estacional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fin de año; caída en diciembre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São Paulo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42% de clientes (penetración 2× su peso demográfico)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Tarjeta de crédito: método de pago dominante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</a:t>
            </a: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2,7%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clientes repiten compra</a:t>
            </a:r>
            <a:endParaRPr lang="en-US" sz="11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879740B-0F52-4B9A-50CF-8AED97BF3C26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6612" y="590915"/>
            <a:ext cx="4320000" cy="216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00E019F-9B29-7703-2BA6-5691C4C67267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86612" y="2835572"/>
            <a:ext cx="4320000" cy="21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336DE40-8918-CD97-703B-3AB1A1EF85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179" y="4686236"/>
            <a:ext cx="1409897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29356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Logística y Calidad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 err="1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Relación</a:t>
            </a: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: </a:t>
            </a:r>
            <a:r>
              <a:rPr lang="en-US" sz="1350" dirty="0" err="1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entregas</a:t>
            </a: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↔</a:t>
            </a: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satisfacción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97%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completados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Entrega a tiempo: ~4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estrellas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promedio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Retraso &gt;5 días: valoración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cae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&lt; 2 estrellas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Relación inversa lineal entre tasa de demora y review score </a:t>
            </a:r>
            <a:r>
              <a:rPr lang="en-US" sz="110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promedio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por estado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282553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F7EDD4"/>
          </a:solidFill>
          <a:ln/>
        </p:spPr>
      </p:sp>
      <p:sp>
        <p:nvSpPr>
          <p:cNvPr id="8" name="Text 4"/>
          <p:cNvSpPr/>
          <p:nvPr/>
        </p:nvSpPr>
        <p:spPr>
          <a:xfrm>
            <a:off x="5210398" y="3445520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Río de Janeiro: alto volumen + </a:t>
            </a:r>
            <a:r>
              <a:rPr lang="en-US" sz="1100" dirty="0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demora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alta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(12%) → prioridad logística</a:t>
            </a:r>
            <a:endParaRPr lang="en-US" sz="11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DC446FB-E643-840F-05E8-84D0A304A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19" y="818033"/>
            <a:ext cx="3404077" cy="2068631"/>
          </a:xfrm>
          <a:prstGeom prst="rect">
            <a:avLst/>
          </a:prstGeom>
          <a:noFill/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CA86A07-85EC-F81F-E8AE-A340EE59D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93" y="3027799"/>
            <a:ext cx="3545527" cy="2068631"/>
          </a:xfrm>
          <a:prstGeom prst="rect">
            <a:avLst/>
          </a:prstGeom>
          <a:noFill/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D20A832-2608-33A6-020E-C917C6EA5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103" y="4686236"/>
            <a:ext cx="1409897" cy="457264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E9B16C6-E355-B0A0-D34B-2F36F25328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8798" y="3527814"/>
            <a:ext cx="187003" cy="1495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409947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Conclusiones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038597"/>
            <a:ext cx="4722763" cy="8239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3461" y="1321817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626471" y="1194941"/>
            <a:ext cx="38650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Retención crítica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626471" y="1489249"/>
            <a:ext cx="386506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Recompra 2,7% →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campañas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fidelización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995562"/>
            <a:ext cx="4722763" cy="82398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13461" y="2278782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626471" y="2151906"/>
            <a:ext cx="38650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Logística</a:t>
            </a:r>
            <a:r>
              <a:rPr lang="en-US" sz="1350" dirty="0" err="1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↔</a:t>
            </a:r>
            <a:r>
              <a:rPr lang="en-US" sz="135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satisfacción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26471" y="2374181"/>
            <a:ext cx="3865066" cy="36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Retrasos &gt;5 días reducen valoración &lt;2★</a:t>
            </a:r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Priorizar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 Río de Janeiro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952527"/>
            <a:ext cx="4722763" cy="8239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13461" y="3235747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626471" y="3108871"/>
            <a:ext cx="38650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São Paulo: fortaleza y riesgo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26471" y="3293753"/>
            <a:ext cx="3865066" cy="382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+⅓ facturación →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diversificar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regiones con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potencial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</a:t>
            </a:r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crecimiento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Bahia,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Cehara</a:t>
            </a:r>
            <a:r>
              <a:rPr lang="en-US" sz="1050" dirty="0">
                <a:solidFill>
                  <a:srgbClr val="454240"/>
                </a:solidFill>
                <a:latin typeface="DM Sans" pitchFamily="2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050" dirty="0">
                <a:solidFill>
                  <a:srgbClr val="454240"/>
                </a:solidFill>
                <a:latin typeface="DM Sans" pitchFamily="2" charset="0"/>
              </a:rPr>
              <a:t>Maranhão y Pará</a:t>
            </a:r>
            <a:endParaRPr lang="en-US" sz="1050" dirty="0">
              <a:solidFill>
                <a:srgbClr val="454240"/>
              </a:solidFill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909492"/>
            <a:ext cx="4722763" cy="90375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130352" y="4244327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626471" y="4065836"/>
            <a:ext cx="38650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Vendedores prioritarios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4626471" y="4290603"/>
            <a:ext cx="3865066" cy="42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Colaborar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 con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vendedores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 que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manejan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grandes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volúmenes</a:t>
            </a:r>
            <a:endParaRPr lang="en-US" sz="1050" dirty="0">
              <a:solidFill>
                <a:srgbClr val="454240"/>
              </a:solidFill>
              <a:latin typeface="DM Sans" pitchFamily="34" charset="0"/>
            </a:endParaRPr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de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pedidos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 y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tienen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baja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</a:rPr>
              <a:t> </a:t>
            </a:r>
            <a:r>
              <a:rPr lang="en-US" sz="1050" dirty="0" err="1">
                <a:solidFill>
                  <a:srgbClr val="454240"/>
                </a:solidFill>
                <a:latin typeface="DM Sans" pitchFamily="34" charset="0"/>
              </a:rPr>
              <a:t>valoración</a:t>
            </a:r>
            <a:endParaRPr lang="en-US" sz="1050" dirty="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F1707416-BE7A-461D-3AF7-7528182F9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7012323-5602-DF37-5052-9118875ECB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103" y="4813250"/>
            <a:ext cx="1409897" cy="330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AB842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505</Words>
  <Application>Microsoft Office PowerPoint</Application>
  <PresentationFormat>Presentación en pantalla (16:9)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Libre Baskerville</vt:lpstr>
      <vt:lpstr>Source Sans 3</vt:lpstr>
      <vt:lpstr>DM Sans</vt:lpstr>
      <vt:lpstr>DM Sans Bold</vt:lpstr>
      <vt:lpstr>Arial</vt:lpstr>
      <vt:lpstr>Source Serif 4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Jack Carpio Pantoja</cp:lastModifiedBy>
  <cp:revision>8</cp:revision>
  <dcterms:created xsi:type="dcterms:W3CDTF">2026-07-12T17:28:41Z</dcterms:created>
  <dcterms:modified xsi:type="dcterms:W3CDTF">2026-07-13T01:47:40Z</dcterms:modified>
</cp:coreProperties>
</file>